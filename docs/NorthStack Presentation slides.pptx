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Intent</c:v>
                </c:pt>
                <c:pt idx="1">
                  <c:v>Sentiment</c:v>
                </c:pt>
                <c:pt idx="2">
                  <c:v>Priority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</c:v>
                </c:pt>
                <c:pt idx="1">
                  <c:v>0.76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F1-43E3-AC02-2AA92D0AC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02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· 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95560" y="384048"/>
            <a:ext cx="685800" cy="6858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19556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NorthStack Customer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Classifier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classifying, prioritizing, and routing customer messages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intent, sentiment, and priority; built on classical ML.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577840"/>
            <a:ext cx="2926080" cy="0"/>
          </a:xfrm>
          <a:prstGeom prst="line">
            <a:avLst/>
          </a:prstGeom>
          <a:noFill/>
          <a:ln w="254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Optimizers  ·  TAG AI Engineering Bootcamp  ·  Cohort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DIAGNOSIS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at NorthStack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is a mid-size B2B SaaS company, providing collaboration and IT-infrastructure tools including project management, cloud storage, and device/network management, etc., to customers across the US and UK.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message like support ticket, review, emails, is manually triaged (manually routed) by coordinators before it reaches the right specialist team.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volume grows, urgent issues sit in queue as long as routine ones.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 has no systematic view of sentiment trends, only anecdotes.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0352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67512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MESSAGES COME FROM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4231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731520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support channels, real-time messages from customer-facing teams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365760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731520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support inbox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48920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731520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feedback exported from a separate platform, uploaded by coordinators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DIAGNOSIS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the Right Approach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41961" y="1719072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closed-set outcomes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known teams, 3 sentiment classes, 3 priority levels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needs to be fast and cheap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messages/day. Latency and cost can compound at scale.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be explainable and consistent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to trust and audit routing decisions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303520" cy="4617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67512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OTHERS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377440"/>
            <a:ext cx="73152" cy="868680"/>
          </a:xfrm>
          <a:prstGeom prst="rect">
            <a:avLst/>
          </a:prstGeom>
          <a:solidFill>
            <a:srgbClr val="4450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903720" y="2350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at inference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6334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but slow and costly at volume — non-deterministic for a task that needs auditability.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364992"/>
            <a:ext cx="73152" cy="868680"/>
          </a:xfrm>
          <a:prstGeom prst="rect">
            <a:avLst/>
          </a:prstGeom>
          <a:solidFill>
            <a:srgbClr val="4450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90372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62102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grounded Q&amp;A over a knowledge base. There's no retrieval need here.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352544"/>
            <a:ext cx="73152" cy="868680"/>
          </a:xfrm>
          <a:prstGeom prst="rect">
            <a:avLst/>
          </a:prstGeom>
          <a:solidFill>
            <a:srgbClr val="4450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903720" y="4325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60857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multi-step decision chains. Classify-and-route is a single-step transformation.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5340096"/>
            <a:ext cx="73152" cy="868680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6903720" y="5312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— chosen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559612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deterministic, explainable. Exactly fits a bounded classification task.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DIAGNOSIS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function, three entry points, three classifiers.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214884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25146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438912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40180" y="2697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14700" y="2697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189220" y="2697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554480" y="3063240"/>
            <a:ext cx="34290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55448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/ingest  →  combine subject + body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783080" y="388620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1783080" y="3886200"/>
            <a:ext cx="2971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(English, fit on training vocabulary)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8980" y="438912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417320" cy="502920"/>
          </a:xfrm>
          <a:prstGeom prst="round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40080" y="466344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663440"/>
            <a:ext cx="1417320" cy="502920"/>
          </a:xfrm>
          <a:prstGeom prst="round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286000" y="466344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4663440"/>
            <a:ext cx="1417320" cy="502920"/>
          </a:xfrm>
          <a:prstGeom prst="round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3931920" y="466344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68980" y="516636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325880" y="548640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1325880" y="54864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 →  PostgreSQL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5737860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26480" y="2148840"/>
            <a:ext cx="5486400" cy="3886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POWERS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288036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6720840" y="2788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3081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/ingest, /ingest/slack, /ingest/email, /batch-upload, /tickets, /tickets/analytics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374904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6720840" y="3657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Dashboard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39502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volume-by-team chart, sentiment distribution, recent messages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461772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672084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 Views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48188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per-team inbox, with manual reassignment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548640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 txBox="1"/>
          <p:nvPr/>
        </p:nvSpPr>
        <p:spPr>
          <a:xfrm>
            <a:off x="6720840" y="5394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Ingestion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5687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(Socket Mode / webhook), Email (IMAP background polling)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Tobi-Bueck/customer-support-tickets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 Face) — ~62k real, ticket-shaped messages.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decisions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NorthStack's 10 official queues (raw data had 50+ unrelated categories)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duplicates, handled missing subject/body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English-only — a deliberate trade-off for free-tier hosting memory limits, detailed in Assumptions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real vs. generated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(queue) and priority existed as real ground truth. Sentiment did not — generated via a local pretrained model, validated against a human-labeled sample.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03520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67512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62K+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tickets sourced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support queues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language scope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 &amp;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first, then a tuned comparison.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Untuned Logistic Regression baseline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comparison: LR, SVM, Random Forest, XGBoost (RandomizedSearchCV)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per task selected on validation macro F1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numbers reported on a held-out test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2120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617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errors concentrate almost entirely among four semantically overlapping categories (Technical / IT / Product Support, Customer Service), mirroring the ambiguity a human coordinator would face.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— MACRO F1 BY TASK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126480" y="219456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SAAS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message  →  Email  →  CSV upload  →  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SAAS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LIMITATIONS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scope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trade-off to fit free-tier hosting memory limits (512MB) — not an oversight.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embeddings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semantic/cross-lingual understanding for a dramatically smaller memory footprint.</a:t>
            </a:r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team</a:t>
            </a:r>
            <a:endParaRPr lang="en-US" sz="1200" dirty="0"/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that a customer’s message requires just one team to help resolve or fix the issue.</a:t>
            </a:r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6537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German-language support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multilingual embeddings if hosting budget allows.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ingestion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email from background polling to a genuine webhook/worker.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registry, retraining pipeline and model observability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management as the dataset and taxonomy evolve.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254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NorthStack Customer Intelligence Classifier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Optimizers  ·  TAG AI Engineering Bootcamp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818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Hannah Igboke</cp:lastModifiedBy>
  <cp:revision>3</cp:revision>
  <dcterms:created xsi:type="dcterms:W3CDTF">2026-09-05T09:43:41Z</dcterms:created>
  <dcterms:modified xsi:type="dcterms:W3CDTF">2026-09-05T15:26:36Z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81eefc-d121-4267-9469-d1583bb67ede_Enabled">
    <vt:lpwstr>true</vt:lpwstr>
  </property>
  <property fmtid="{D5CDD505-2E9C-101B-9397-08002B2CF9AE}" pid="3" name="MSIP_Label_4c81eefc-d121-4267-9469-d1583bb67ede_SetDate">
    <vt:lpwstr>2026-09-05T13:53:36Z</vt:lpwstr>
  </property>
  <property fmtid="{D5CDD505-2E9C-101B-9397-08002B2CF9AE}" pid="4" name="MSIP_Label_4c81eefc-d121-4267-9469-d1583bb67ede_Method">
    <vt:lpwstr>Privileged</vt:lpwstr>
  </property>
  <property fmtid="{D5CDD505-2E9C-101B-9397-08002B2CF9AE}" pid="5" name="MSIP_Label_4c81eefc-d121-4267-9469-d1583bb67ede_Name">
    <vt:lpwstr>4c81eefc-d121-4267-9469-d1583bb67ede</vt:lpwstr>
  </property>
  <property fmtid="{D5CDD505-2E9C-101B-9397-08002B2CF9AE}" pid="6" name="MSIP_Label_4c81eefc-d121-4267-9469-d1583bb67ede_SiteId">
    <vt:lpwstr>d2a96d22-de08-48e1-bc43-78e70d957e83</vt:lpwstr>
  </property>
  <property fmtid="{D5CDD505-2E9C-101B-9397-08002B2CF9AE}" pid="7" name="MSIP_Label_4c81eefc-d121-4267-9469-d1583bb67ede_ActionId">
    <vt:lpwstr>9b973c37-c480-44d2-b4b9-ba6fd9f91e74</vt:lpwstr>
  </property>
  <property fmtid="{D5CDD505-2E9C-101B-9397-08002B2CF9AE}" pid="8" name="MSIP_Label_4c81eefc-d121-4267-9469-d1583bb67ede_ContentBits">
    <vt:lpwstr>0</vt:lpwstr>
  </property>
  <property fmtid="{D5CDD505-2E9C-101B-9397-08002B2CF9AE}" pid="9" name="MSIP_Label_4c81eefc-d121-4267-9469-d1583bb67ede_Tag">
    <vt:lpwstr>10, 0, 1, 1</vt:lpwstr>
  </property>
</Properties>
</file>